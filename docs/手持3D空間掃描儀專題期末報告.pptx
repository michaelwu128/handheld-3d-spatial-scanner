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  <p:sldMasterId id="2147483662" r:id="rId3"/>
  </p:sldMasterIdLst>
  <p:notesMasterIdLst>
    <p:notesMasterId r:id="rId13"/>
  </p:notesMasterIdLst>
  <p:sldIdLst>
    <p:sldId id="256" r:id="rId4"/>
    <p:sldId id="257" r:id="rId5"/>
    <p:sldId id="258" r:id="rId6"/>
    <p:sldId id="264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96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3" d="100"/>
          <a:sy n="83" d="100"/>
        </p:scale>
        <p:origin x="408" y="54"/>
      </p:cViewPr>
      <p:guideLst>
        <p:guide orient="horz" pos="1596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14.06.2026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将为大家介绍我们的专题项目——基于B-L475E-IOT01A1开发板制作的手持3D空间扫描仪。本次报告将详细阐述我们项目的动机、实现方法、最终成果以及未来的改进方向。希望通过这次分享，能让大家对3D扫描技术有更深入的了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让我们谈谈项目的动机。3D扫描技术在当今社会的应用越来越广泛。我们团队希望在已有的测距技术基础上，结合传感器，实现一个更具挑战性的目标——制作一个手持3D扫描仪。我们的目标非常明确：整合硬件、实现软件算法、完成坐标转换，并最终通过实际扫描来验证我们系统的有效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实现方法分为几个部分。首先是核心思路，我们并非直接测量三维坐标，而是通过结合ToF测距和IMU姿态解算，将极坐标转换为直角坐标。这张图清晰地展示了这一过程。同时，我们的软件架构采用了分层设计，从底层硬件驱动到上层应用任务，再到BLE通信和PC端可视化，结构清晰，各层职责明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实现方法分为几个部分。首先是核心思路，我们并非直接测量三维坐标，而是通过结合ToF测距和IMU姿态解算，将极坐标转换为直角坐标。这张图清晰地展示了这一过程。同时，我们的软件架构采用了分层设计，从底层硬件驱动到上层应用任务，再到BLE通信和PC端可视化，结构清晰，各层职责明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软件层面，我们的核心是Madgwick算法，它能高效地融合传感器数据，解算出设备姿态。我们使用FreeRTOS进行任务管理，将测距、姿态解算、逻辑控制等功能分配给不同的任务，并设置了合理的优先级，确保系统稳定高效。这里展示了我们的任务列表和IMU任务的具体实现。下方我们为您预留了位置，用于展示核心的XYZ坐标计算方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更深入地了解系统实现，我们来看一下各个任务的具体细节。这一页展示了ToF传感器任务、逻辑控制任务、IMU任务以及遥测任务的核心职责和初始化流程。通过这些细节，我们可以看到每个任务是如何协同工作，最终实现3D扫描功能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大家最关心的成果部分。我们成功实现了手持3D扫描原型系统，能够实时记录空间坐标并生成三维点云。这一页我们为您预留了三个位置，请您插入扫描不同物体（如简单几何体、日常用品或人体部位）的成果图，以展示系统的实际效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列出了本次专题所参考的主要文献，包括芯片手册、核心算法论文以及相关的开源库。在此，我们要特别感谢指导教授的悉心指导，以及团队成员和同学们的支持与帮助。我的报告到此结束，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这一页，我们将介绍系统的通信与控制模块。首先是BLE任务，它负责将计算出的点云数据通过蓝牙发送到电脑。其次是按键控制，用户可以通过开发板上的蓝色按钮来启动或停止扫描。最后是LED状态指示，通过不同的LED灯，我们可以直观地了解蓝牙是否已连接以及系统是否正在扫描。这些功能共同构成了完整的用户交互和数据链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2.jpe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notesSlide" Target="../notesSlides/notesSlide2.xml"/><Relationship Id="rId5" Type="http://schemas.openxmlformats.org/officeDocument/2006/relationships/tags" Target="../tags/tag5.xml"/><Relationship Id="rId10" Type="http://schemas.openxmlformats.org/officeDocument/2006/relationships/slideLayout" Target="../slideLayouts/slideLayout12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7" Type="http://schemas.openxmlformats.org/officeDocument/2006/relationships/image" Target="../media/image2.jpe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540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手持3D空間掃描儀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683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term project report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8594">
            <a:off x="3556008" y="4692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5207000"/>
            <a:ext cx="533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專題名稱：</a:t>
            </a: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基於B-L475E-IOT01A1開發板之手持3D空間掃描儀實作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報告者：</a:t>
            </a:r>
            <a:r>
              <a:rPr lang="zh-CN" altLang="en-US" sz="140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吳展宇</a:t>
            </a:r>
            <a:r>
              <a:rPr lang="en-US" altLang="zh-CN" sz="140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40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馬博達</a:t>
            </a:r>
          </a:p>
        </p:txBody>
      </p:sp>
      <p:cxnSp>
        <p:nvCxnSpPr>
          <p:cNvPr id="7" name="Connector 7"/>
          <p:cNvCxnSpPr/>
          <p:nvPr/>
        </p:nvCxnSpPr>
        <p:spPr>
          <a:xfrm rot="5350892">
            <a:off x="5905500" y="5708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6731000" y="5207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報告日期：</a:t>
            </a: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2026年6月11日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動機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080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AECBFA">
                <a:alpha val="7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080000" cy="50800"/>
          </a:xfrm>
          <a:prstGeom prst="roundRect">
            <a:avLst>
              <a:gd name="adj" fmla="val 0"/>
            </a:avLst>
          </a:prstGeom>
          <a:solidFill>
            <a:srgbClr val="AECB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2032000"/>
            <a:ext cx="457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動機與背景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549">
            <a:off x="1016009" y="2597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794000"/>
            <a:ext cx="4572000" cy="342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隨著科技進步，3D掃描技術逐漸被應用在生活中的許多領域，例如模型製作、虛擬實境等。我們在原來實現精密測距的基礎上，想到可以結合加速度計等板載傳感器做進一步升級。因此，我們希望利用B-L475E-IOT01A1開發板製作一個手持3D空間掃描儀，透過感測器收集周圍環境的資料，並將其轉換成3D模型。希望藉由本次實作，將課堂所學應用於實際專題中。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1"/>
            </p:custDataLst>
          </p:nvPr>
        </p:nvSpPr>
        <p:spPr>
          <a:xfrm>
            <a:off x="6350000" y="1778000"/>
            <a:ext cx="5080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AECBFA">
                <a:alpha val="7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>
            <p:custDataLst>
              <p:tags r:id="rId2"/>
            </p:custDataLst>
          </p:nvPr>
        </p:nvSpPr>
        <p:spPr>
          <a:xfrm>
            <a:off x="6604000" y="19685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02-1 硬體整合與程式開發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3"/>
            </p:custDataLst>
          </p:nvPr>
        </p:nvSpPr>
        <p:spPr>
          <a:xfrm>
            <a:off x="6604000" y="23495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整合ToF測距感測器與慣性測量單元(IMU)，並開發程式讀取感測器數據。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4"/>
            </p:custDataLst>
          </p:nvPr>
        </p:nvSpPr>
        <p:spPr>
          <a:xfrm>
            <a:off x="6350000" y="3390900"/>
            <a:ext cx="5080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AECBFA">
                <a:alpha val="7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>
            <p:custDataLst>
              <p:tags r:id="rId5"/>
            </p:custDataLst>
          </p:nvPr>
        </p:nvSpPr>
        <p:spPr>
          <a:xfrm>
            <a:off x="6604000" y="35814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02-2 姿態解算與座標轉換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6"/>
            </p:custDataLst>
          </p:nvPr>
        </p:nvSpPr>
        <p:spPr>
          <a:xfrm>
            <a:off x="6604000" y="39624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應用Madgwick演算法解算開發板姿態，並結合測距數據計算出三維空間座標。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7"/>
            </p:custDataLst>
          </p:nvPr>
        </p:nvSpPr>
        <p:spPr>
          <a:xfrm>
            <a:off x="6350000" y="5016500"/>
            <a:ext cx="5080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AECBFA">
                <a:alpha val="7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>
            <p:custDataLst>
              <p:tags r:id="rId8"/>
            </p:custDataLst>
          </p:nvPr>
        </p:nvSpPr>
        <p:spPr>
          <a:xfrm>
            <a:off x="6604000" y="52070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02-3 系統驗證與成果展示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9"/>
            </p:custDataLst>
          </p:nvPr>
        </p:nvSpPr>
        <p:spPr>
          <a:xfrm>
            <a:off x="6604000" y="5588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透過實際掃描生成可視化的3D點雲模型，驗證系統可行性。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 y z 座標計算方法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28040" y="1488440"/>
            <a:ext cx="5080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第一步：ToF 量「有多遠」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感測器:</a:t>
            </a:r>
            <a:r>
              <a:rPr lang="en-US" sz="13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VL53L0X (小型雷射測距)</a:t>
            </a:r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功能:</a:t>
            </a:r>
            <a:r>
              <a:rPr lang="en-US" sz="13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板子指向前方量測。</a:t>
            </a:r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輸出:</a:t>
            </a:r>
            <a:r>
              <a:rPr lang="en-US" sz="13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距離 d。</a:t>
            </a:r>
          </a:p>
        </p:txBody>
      </p:sp>
      <p:sp>
        <p:nvSpPr>
          <p:cNvPr id="5" name="AutoShape 5"/>
          <p:cNvSpPr/>
          <p:nvPr/>
        </p:nvSpPr>
        <p:spPr>
          <a:xfrm>
            <a:off x="6260465" y="1594485"/>
            <a:ext cx="5080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第二步：IMU 算「板子朝哪裡」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感測器:</a:t>
            </a:r>
            <a:r>
              <a:rPr lang="en-US" sz="13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LSM6DSL (加速度計 + 陀螺儀)</a:t>
            </a:r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功能:</a:t>
            </a:r>
            <a:r>
              <a:rPr lang="en-US" sz="13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感受重力知道板子傾斜角度，感受轉動知道板子旋轉狀態。</a:t>
            </a:r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核心:</a:t>
            </a:r>
            <a:r>
              <a:rPr lang="en-US" sz="13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使用Madgwick演算法融合數據，計算出板子此刻的姿態，即ToF測量方向在3D空間中的指向。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762000" y="3774440"/>
            <a:ext cx="4876165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第三步：距離 + 朝向 → 空間中的一點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原理:</a:t>
            </a:r>
            <a:r>
              <a:rPr lang="en-US" sz="13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ToF提供長度(d)，IMU提供方向。結合兩者即可在3D空間中标出一個點。</a:t>
            </a:r>
          </a:p>
          <a:p>
            <a:pPr marL="0" indent="0" algn="l">
              <a:lnSpc>
                <a:spcPct val="117000"/>
              </a:lnSpc>
            </a:pPr>
            <a:endParaRPr lang="en-US" sz="1300" b="0" i="0" u="none" strike="noStrike">
              <a:solidFill>
                <a:srgbClr val="44444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170295" y="3774440"/>
            <a:ext cx="5080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第四步：按藍鍵設原點，得到 X, Y, Z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原理:</a:t>
            </a:r>
            <a:r>
              <a:rPr lang="en-US" sz="13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按下按鍵開始掃描的位置被設為原點(0,0,0)。之後所有點的座標都是相對於此原點的位移。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75005" y="612140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</a:t>
            </a:r>
            <a:r>
              <a:rPr lang="en-US" altLang="zh-CN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Madgwick</a:t>
            </a:r>
            <a:r>
              <a:rPr lang="zh-CN" altLang="en-US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演算法計算板子朝向</a:t>
            </a:r>
          </a:p>
          <a:p>
            <a:r>
              <a:rPr lang="zh-CN" altLang="en-US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參考文獻：</a:t>
            </a:r>
            <a:r>
              <a:rPr lang="en-US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https://x-io.co.uk/downloads/madgwick_internal_report.pdf</a:t>
            </a:r>
            <a:endParaRPr lang="en-US" altLang="en-US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384175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2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詳細</a:t>
            </a:r>
            <a:r>
              <a:rPr lang="en-US" sz="2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計算</a:t>
            </a:r>
            <a:r>
              <a:rPr lang="zh-CN" altLang="en-US" sz="2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過程</a:t>
            </a:r>
          </a:p>
        </p:txBody>
      </p:sp>
      <p:pic>
        <p:nvPicPr>
          <p:cNvPr id="9" name="图片 8" descr="fe0044922b42c0303f465f702683e6d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535" y="1623695"/>
            <a:ext cx="2689225" cy="653415"/>
          </a:xfrm>
          <a:prstGeom prst="rect">
            <a:avLst/>
          </a:prstGeom>
        </p:spPr>
      </p:pic>
      <p:pic>
        <p:nvPicPr>
          <p:cNvPr id="10" name="图片 9" descr="e3c7e5146c1959db1399ec6916f2541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5535" y="2214245"/>
            <a:ext cx="1646555" cy="530860"/>
          </a:xfrm>
          <a:prstGeom prst="rect">
            <a:avLst/>
          </a:prstGeom>
        </p:spPr>
      </p:pic>
      <p:pic>
        <p:nvPicPr>
          <p:cNvPr id="11" name="图片 10" descr="b68823c9f23aae7dfc95c17a19543ef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9340" y="1797685"/>
            <a:ext cx="6423660" cy="102806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14070" y="1207135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b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1: Madgwick </a:t>
            </a:r>
            <a:r>
              <a:rPr lang="zh-CN" altLang="en-US" sz="1600" b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姿態解算（解出四元數）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762000" y="3035300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b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</a:t>
            </a:r>
            <a:r>
              <a:rPr lang="zh-CN" altLang="en-US" sz="1600" b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2: 數值積分與動態融合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762000" y="4658360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b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3: 3D </a:t>
            </a:r>
            <a:r>
              <a:rPr lang="zh-CN" altLang="en-US" sz="1600" b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空間坐標幾何投影</a:t>
            </a:r>
          </a:p>
        </p:txBody>
      </p:sp>
      <p:pic>
        <p:nvPicPr>
          <p:cNvPr id="16" name="图片 15" descr="9e4c841848a28c696445c930ac15520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" y="3418840"/>
            <a:ext cx="2025650" cy="711200"/>
          </a:xfrm>
          <a:prstGeom prst="rect">
            <a:avLst/>
          </a:prstGeom>
        </p:spPr>
      </p:pic>
      <p:pic>
        <p:nvPicPr>
          <p:cNvPr id="17" name="图片 16" descr="9e9873503810791caedd4acba83187e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3760" y="4150995"/>
            <a:ext cx="2769870" cy="451485"/>
          </a:xfrm>
          <a:prstGeom prst="rect">
            <a:avLst/>
          </a:prstGeom>
        </p:spPr>
      </p:pic>
      <p:pic>
        <p:nvPicPr>
          <p:cNvPr id="18" name="图片 17" descr="d243df1f8e216a929dc4b066cc6b4a9f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4070" y="5017770"/>
            <a:ext cx="2476500" cy="386080"/>
          </a:xfrm>
          <a:prstGeom prst="rect">
            <a:avLst/>
          </a:prstGeom>
        </p:spPr>
      </p:pic>
      <p:pic>
        <p:nvPicPr>
          <p:cNvPr id="19" name="图片 18" descr="c0694ddc3b89c8a01ff1c7f8638b0f9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1220" y="5426075"/>
            <a:ext cx="2419350" cy="360045"/>
          </a:xfrm>
          <a:prstGeom prst="rect">
            <a:avLst/>
          </a:prstGeom>
        </p:spPr>
      </p:pic>
      <p:pic>
        <p:nvPicPr>
          <p:cNvPr id="20" name="图片 19" descr="2e714c4c82733a69af5e2aea9b3ea5c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3760" y="5819140"/>
            <a:ext cx="2638425" cy="4051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1016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實作方法（一）：系統分層架構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270000" y="2540000"/>
            <a:ext cx="965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PC端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 ble_3d_scanner.py，負責接收BLE數據、解包並使用Matplotlib繪製3D點雲。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216025" y="3491230"/>
            <a:ext cx="965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BLE層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 BlueNRG-MS + ST Stack，負責HCI事件處理、連線管理及自訂GATT Service。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270000" y="4518025"/>
            <a:ext cx="965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應用層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 FreeRTOS 多Task (main.c)，包含ToF / IMU / Logic / Telemetry / BLE Task。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270000" y="5461000"/>
            <a:ext cx="965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硬體層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 VL53L0X (ToF) + LSM6DSL (IMU) + LIS3MDL (磁力計) + User Button + LED。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實作方法（二）：程式任務與流程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30045"/>
            <a:ext cx="10668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D4ED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核心思路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</a:t>
            </a:r>
            <a:r>
              <a:rPr lang="en-US" sz="15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ToF量測</a:t>
            </a: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 感測器到物體表面的距離 d。 </a:t>
            </a:r>
          </a:p>
          <a:p>
            <a:pPr marL="0" indent="0" algn="l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</a:t>
            </a:r>
            <a:r>
              <a:rPr lang="en-US" sz="15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IMU計算</a:t>
            </a: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 板子此刻朝向哪裡 (四元數q)。</a:t>
            </a:r>
          </a:p>
          <a:p>
            <a:pPr marL="0" indent="0" algn="l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</a:t>
            </a:r>
            <a:r>
              <a:rPr lang="en-US" sz="15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座標旋轉</a:t>
            </a: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 把距離向量旋轉到世界座標。 </a:t>
            </a:r>
          </a:p>
          <a:p>
            <a:pPr marL="0" indent="0" algn="l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</a:t>
            </a:r>
            <a:r>
              <a:rPr lang="en-US" sz="15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基準點減法</a:t>
            </a: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 減去按鍵當下的基準點，得到相對位移。</a:t>
            </a:r>
          </a:p>
        </p:txBody>
      </p:sp>
      <p:sp>
        <p:nvSpPr>
          <p:cNvPr id="5" name="AutoShape 5"/>
          <p:cNvSpPr/>
          <p:nvPr/>
        </p:nvSpPr>
        <p:spPr>
          <a:xfrm>
            <a:off x="678180" y="3219450"/>
            <a:ext cx="10668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D4ED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FreeRTOS 任务列表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ToF_Sensor_Task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 高優先權，週期性測距。</a:t>
            </a:r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Logic_Control_Task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 普通優先權，阻塞於Queue。</a:t>
            </a:r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Telemetry_Task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 低優先權，產生點雲數據。</a:t>
            </a:r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IMU_Task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 普通優先權，更新姿態。</a:t>
            </a:r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defaultTask (BLE Task)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 普通優先權，處理HCI事件。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762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實作方法（三）：任務細節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2032000"/>
            <a:ext cx="5080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AECBFA">
                <a:alpha val="80000"/>
              </a:srgbClr>
            </a:solidFill>
            <a:prstDash val="solid"/>
            <a:round/>
          </a:ln>
        </p:spPr>
        <p:txBody>
          <a:bodyPr vert="horz" wrap="square" lIns="254000" tIns="254000" rIns="254000" bIns="25400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ToF </a:t>
            </a:r>
            <a:r>
              <a:rPr lang="zh-CN" alt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傳感器任務</a:t>
            </a: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(测距)</a:t>
            </a:r>
          </a:p>
          <a:p>
            <a:pPr marL="0" indent="0" algn="ctr">
              <a:lnSpc>
                <a:spcPct val="108000"/>
              </a:lnSpc>
              <a:defRPr/>
            </a:pP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職責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 週期性讀取VL53L0X，把有效距離送入distQueue。</a:t>
            </a:r>
          </a:p>
          <a:p>
            <a:pPr marL="0" indent="0" algn="ctr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初始化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 XSHUT腳位重置、I2C位址0x52、進行多步驟校準、設置為Single Ranging模式。</a:t>
            </a: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6350000" y="2032000"/>
            <a:ext cx="5080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AECBFA">
                <a:alpha val="80000"/>
              </a:srgbClr>
            </a:solidFill>
            <a:prstDash val="solid"/>
            <a:round/>
          </a:ln>
        </p:spPr>
        <p:txBody>
          <a:bodyPr vert="horz" wrap="square" lIns="254000" tIns="254000" rIns="254000" bIns="25400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</a:t>
            </a:r>
            <a:r>
              <a:rPr lang="zh-CN" alt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邏輯控製任務</a:t>
            </a: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(</a:t>
            </a:r>
            <a:r>
              <a:rPr lang="zh-CN" alt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距離基準</a:t>
            </a: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)</a:t>
            </a:r>
          </a:p>
          <a:p>
            <a:pPr marL="0" indent="0" algn="ctr">
              <a:lnSpc>
                <a:spcPct val="108000"/>
              </a:lnSpc>
              <a:defRPr/>
            </a:pP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職責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 </a:t>
            </a:r>
            <a:r>
              <a:rPr lang="zh-CN" alt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讀取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ToF數據、維護全域絕對距離、偵測掃描開始/停止以記錄基準距離。</a:t>
            </a: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762000" y="4699000"/>
            <a:ext cx="5080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AECBFA">
                <a:alpha val="80000"/>
              </a:srgbClr>
            </a:solidFill>
            <a:prstDash val="solid"/>
            <a:round/>
          </a:ln>
        </p:spPr>
        <p:txBody>
          <a:bodyPr vert="horz" wrap="square" lIns="254000" tIns="254000" rIns="254000" bIns="25400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IMU </a:t>
            </a:r>
            <a:r>
              <a:rPr lang="zh-CN" alt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任務</a:t>
            </a: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(</a:t>
            </a:r>
            <a:r>
              <a:rPr lang="zh-CN" alt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姿態更新</a:t>
            </a: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)</a:t>
            </a:r>
          </a:p>
          <a:p>
            <a:pPr marL="0" indent="0" algn="ctr">
              <a:lnSpc>
                <a:spcPct val="108000"/>
              </a:lnSpc>
              <a:defRPr/>
            </a:pP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職責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 讀取LSM6DSL/LIS3MDL，執行Madgwick演算法更新全域姿態。</a:t>
            </a:r>
          </a:p>
          <a:p>
            <a:pPr marL="0" indent="0" algn="ctr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初始化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 配置加速度計(ODR 104Hz, ±2g)與陀螺儀(ODR 104Hz, ±2000 dps)。</a:t>
            </a:r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6350000" y="4699000"/>
            <a:ext cx="5080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AECBFA">
                <a:alpha val="80000"/>
              </a:srgbClr>
            </a:solidFill>
            <a:prstDash val="solid"/>
            <a:round/>
          </a:ln>
        </p:spPr>
        <p:txBody>
          <a:bodyPr vert="horz" wrap="square" lIns="254000" tIns="254000" rIns="254000" bIns="25400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</a:t>
            </a:r>
            <a:r>
              <a:rPr lang="zh-CN" alt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遙感任務</a:t>
            </a: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(</a:t>
            </a:r>
            <a:r>
              <a:rPr lang="zh-CN" alt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交互輸出</a:t>
            </a: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)</a:t>
            </a:r>
          </a:p>
          <a:p>
            <a:pPr marL="0" indent="0" algn="ctr">
              <a:lnSpc>
                <a:spcPct val="108000"/>
              </a:lnSpc>
              <a:defRPr/>
            </a:pP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職責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 處理按鍵切換掃描狀態、控制LED燈、計算最終3D座標</a:t>
            </a:r>
          </a:p>
          <a:p>
            <a:pPr marL="0" indent="0" algn="ctr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(px, py, pz)並送入BLE佇列。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實作方法（四）：通訊與控制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159000"/>
            <a:ext cx="3302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413000"/>
            <a:ext cx="2794000" cy="355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BLE 任務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驅動 BlueNRG 協定棧，並將佇列 (Queue) 裡的點雲數據經由 GATT 協議送出。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4445000" y="2159000"/>
            <a:ext cx="3302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699000" y="2413000"/>
            <a:ext cx="2794000" cy="355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按鍵控制 (User Button)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控制「掃描/待機」狀態。按一下開始掃描（設原點），再按一下停止。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8128000" y="2159000"/>
            <a:ext cx="3302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8382000" y="2413000"/>
            <a:ext cx="2794000" cy="355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狀態指示 (LED Feedback)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LED2 (PB14): 藍牙連線指示燈。</a:t>
            </a: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LED (PA5): 掃描狀態指示燈，燈亮即代表記錄中。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成果展示(video)</a:t>
            </a:r>
          </a:p>
          <a:p>
            <a:pPr marL="0" indent="0" algn="ctr">
              <a:lnSpc>
                <a:spcPct val="125000"/>
              </a:lnSpc>
              <a:defRPr/>
            </a:pPr>
            <a:r>
              <a:rPr lang="en-US" altLang="zh-CN" sz="180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https://youtu.be/wLbfHWUSziY</a:t>
            </a: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22860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445000" y="1651000"/>
            <a:ext cx="3302000" cy="22860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128000" y="1651000"/>
            <a:ext cx="3302000" cy="22860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4191000"/>
            <a:ext cx="10668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參考文獻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</a:t>
            </a:r>
            <a:r>
              <a:rPr lang="en-US" sz="1400" b="1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STM32L475VG 數據手冊</a:t>
            </a:r>
            <a:endParaRPr lang="en-US" sz="14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</a:t>
            </a:r>
            <a:r>
              <a:rPr lang="en-US" sz="1400" b="1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Madgwick, S. O. H. (2010). An efficient orientation filter for inertial and inertial/magnetic sensor arrays.</a:t>
            </a: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https://x-io.co.uk/downloads/madgwick_internal_report.pdf</a:t>
            </a: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</a:t>
            </a:r>
            <a:r>
              <a:rPr lang="en-US" sz="1400" b="1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Adafruit VL53L0X Library GitHub Repository</a:t>
            </a:r>
            <a:endParaRPr lang="en-US" sz="14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</a:t>
            </a:r>
            <a:r>
              <a:rPr lang="en-US" sz="1400" b="1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Arduino for STM32 官方文檔與社區教程</a:t>
            </a:r>
            <a:endParaRPr lang="en-US" sz="14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9" name="图片 8" descr="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3600" y="1651635"/>
            <a:ext cx="2590800" cy="2273300"/>
          </a:xfrm>
          <a:prstGeom prst="rect">
            <a:avLst/>
          </a:prstGeom>
        </p:spPr>
      </p:pic>
      <p:pic>
        <p:nvPicPr>
          <p:cNvPr id="10" name="图片 9" descr="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7270" y="1651635"/>
            <a:ext cx="2668905" cy="2285365"/>
          </a:xfrm>
          <a:prstGeom prst="rect">
            <a:avLst/>
          </a:prstGeom>
        </p:spPr>
      </p:pic>
      <p:pic>
        <p:nvPicPr>
          <p:cNvPr id="11" name="图片 10" descr="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8550" y="1651000"/>
            <a:ext cx="2741295" cy="227393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500,&quot;top&quot;:140,&quot;width&quot;:400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500,&quot;top&quot;:140,&quot;width&quot;:400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500,&quot;top&quot;:140,&quot;width&quot;:400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500,&quot;top&quot;:140,&quot;width&quot;:400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500,&quot;top&quot;:140,&quot;width&quot;:400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500,&quot;top&quot;:140,&quot;width&quot;:400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500,&quot;top&quot;:140,&quot;width&quot;:400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500,&quot;top&quot;:140,&quot;width&quot;:400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500,&quot;top&quot;:140,&quot;width&quot;:400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,&quot;left&quot;:60,&quot;top&quot;:160,&quot;width&quot;:840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,&quot;left&quot;:60,&quot;top&quot;:160,&quot;width&quot;:840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,&quot;left&quot;:60,&quot;top&quot;:160,&quot;width&quot;:840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,&quot;left&quot;:60,&quot;top&quot;:16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933</Words>
  <Application>Microsoft Office PowerPoint</Application>
  <PresentationFormat>寬螢幕</PresentationFormat>
  <Paragraphs>109</Paragraphs>
  <Slides>9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9</vt:i4>
      </vt:variant>
    </vt:vector>
  </HeadingPairs>
  <TitlesOfParts>
    <vt:vector size="14" baseType="lpstr">
      <vt:lpstr>Noto Sans SC</vt:lpstr>
      <vt:lpstr>Arial</vt:lpstr>
      <vt:lpstr>Office 主题​​</vt:lpstr>
      <vt:lpstr>默认主题</vt:lpstr>
      <vt:lpstr>1_默认主题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吳 展宇</cp:lastModifiedBy>
  <cp:revision>5</cp:revision>
  <dcterms:created xsi:type="dcterms:W3CDTF">2026-06-10T03:55:00Z</dcterms:created>
  <dcterms:modified xsi:type="dcterms:W3CDTF">2026-06-14T04:30:58Z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{"Label":"1","ContentProducer":"001191110102MACQD9K64010000","ProduceID":"7649609518520044491","ReservedCode1":"","ContentPropagator":"","PropagateID":"","ReservedCode2":""}</vt:lpwstr>
  </property>
  <property fmtid="{D5CDD505-2E9C-101B-9397-08002B2CF9AE}" pid="3" name="ICV">
    <vt:lpwstr>B191E2B55506429AA5C44BF8607B0C61_13</vt:lpwstr>
  </property>
  <property fmtid="{D5CDD505-2E9C-101B-9397-08002B2CF9AE}" pid="4" name="KSOProductBuildVer">
    <vt:lpwstr>2052-12.1.0.26895</vt:lpwstr>
  </property>
</Properties>
</file>